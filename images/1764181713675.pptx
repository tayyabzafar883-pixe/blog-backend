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19" r:id="rId2"/>
    <p:sldId id="400" r:id="rId3"/>
    <p:sldId id="306" r:id="rId4"/>
    <p:sldId id="308" r:id="rId5"/>
    <p:sldId id="309" r:id="rId6"/>
    <p:sldId id="310" r:id="rId7"/>
    <p:sldId id="311" r:id="rId8"/>
    <p:sldId id="312" r:id="rId9"/>
    <p:sldId id="414" r:id="rId10"/>
    <p:sldId id="314" r:id="rId11"/>
    <p:sldId id="315" r:id="rId12"/>
    <p:sldId id="316" r:id="rId13"/>
    <p:sldId id="317" r:id="rId14"/>
    <p:sldId id="318" r:id="rId15"/>
    <p:sldId id="319" r:id="rId16"/>
    <p:sldId id="416" r:id="rId17"/>
    <p:sldId id="417" r:id="rId18"/>
    <p:sldId id="418" r:id="rId19"/>
    <p:sldId id="41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2976" userDrawn="1">
          <p15:clr>
            <a:srgbClr val="A4A3A4"/>
          </p15:clr>
        </p15:guide>
        <p15:guide id="3" orient="horz" pos="120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clrMode="bw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3B06"/>
    <a:srgbClr val="C5C5C5"/>
    <a:srgbClr val="684F1E"/>
    <a:srgbClr val="084819"/>
    <a:srgbClr val="5B0505"/>
    <a:srgbClr val="050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516" y="72"/>
      </p:cViewPr>
      <p:guideLst>
        <p:guide orient="horz" pos="816"/>
        <p:guide pos="2976"/>
        <p:guide orient="horz" pos="120"/>
        <p:guide pos="56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D6E16-51C0-4345-9068-9A45A114C3D9}" type="datetimeFigureOut">
              <a:rPr lang="en-US" smtClean="0"/>
              <a:t>29-Jan-18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D963-D9F2-4349-A898-395F51599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A4CFF-7EFB-413D-979F-A35F027C1BED}" type="datetimeFigureOut">
              <a:rPr lang="en-US" smtClean="0"/>
              <a:t>29-Jan-18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E10C6-2278-46DF-8982-0D5CB7448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19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922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56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65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0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13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57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33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82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765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267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127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595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46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30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097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71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82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E10C6-2278-46DF-8982-0D5CB7448A8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5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B5805-4A80-4240-9674-611D0350C9F5}" type="datetime1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2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E9E-7AC5-4F3C-919A-3CD9D1803631}" type="datetime1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6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48DB-0A0E-4B15-B961-008B484F8715}" type="datetime1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3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95D3-3B5F-4F55-819C-98DF50A31C5D}" type="datetime1">
              <a:rPr lang="en-US" smtClean="0"/>
              <a:t>29-Jan-18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z="1200"/>
            </a:lvl1pPr>
          </a:lstStyle>
          <a:p>
            <a:fld id="{16F07172-BAF6-F344-A163-E77E2B7834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425A-704D-4D2C-AD9B-16096500C615}" type="datetime1">
              <a:rPr lang="en-US" smtClean="0"/>
              <a:t>29-Jan-18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pPr/>
              <a:t>‹#›</a:t>
            </a:fld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168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37B5F-ED59-4B5A-B86E-3AD00F64C54A}" type="datetime1">
              <a:rPr lang="en-US" smtClean="0"/>
              <a:t>29-Jan-18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3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42A16-A71D-4A98-A719-C537DB4039CF}" type="datetime1">
              <a:rPr lang="en-US" smtClean="0"/>
              <a:t>29-Jan-18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7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7E944-AD44-4BB7-8E45-F55E48751476}" type="datetime1">
              <a:rPr lang="en-US" smtClean="0"/>
              <a:t>29-Jan-18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29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4015-1A16-43FA-B156-0F74C7B2BAE0}" type="datetime1">
              <a:rPr lang="en-US" smtClean="0"/>
              <a:t>29-Jan-18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5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EDDDD-F959-4D1A-9512-A7872E4461BE}" type="datetime1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7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95C-B97A-44F8-BE78-29BECED17B65}" type="datetime1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9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64ED8-5C82-4F7D-946D-E413EB161506}" type="datetime1">
              <a:rPr lang="en-US" smtClean="0"/>
              <a:t>29-Jan-18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07172-BAF6-F344-A163-E77E2B7834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9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jasss.soc.surrey.ac.uk/11/4/12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10904"/>
            <a:ext cx="9144000" cy="899232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solidFill>
                  <a:schemeClr val="bg1"/>
                </a:solidFill>
                <a:latin typeface="Candara" panose="020E0502030303020204" pitchFamily="34" charset="0"/>
                <a:cs typeface="Arial"/>
              </a:rPr>
              <a:t>Modeling &amp; Simulation </a:t>
            </a:r>
            <a:endParaRPr lang="en-US" sz="3000" b="1" dirty="0">
              <a:solidFill>
                <a:schemeClr val="bg1"/>
              </a:solidFill>
              <a:latin typeface="Candara" panose="020E0502030303020204" pitchFamily="34" charset="0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</a:t>
            </a:fld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762500" y="1833125"/>
            <a:ext cx="3924300" cy="1900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 smtClean="0">
                <a:solidFill>
                  <a:srgbClr val="002060"/>
                </a:solidFill>
                <a:latin typeface="Candara" panose="020E0502030303020204" pitchFamily="34" charset="0"/>
                <a:cs typeface="Arial"/>
              </a:rPr>
              <a:t>Simulation: When is it an Appropriate Tool?</a:t>
            </a:r>
            <a:endParaRPr lang="en-US" sz="3000" b="1" dirty="0">
              <a:solidFill>
                <a:srgbClr val="002060"/>
              </a:solidFill>
              <a:latin typeface="Candara" panose="020E0502030303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645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305651"/>
            <a:ext cx="3657600" cy="5050699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Candara" panose="020E0502030303020204" pitchFamily="34" charset="0"/>
                <a:cs typeface="Arial" pitchFamily="34" charset="0"/>
              </a:rPr>
              <a:t>In this module, we shall see how simulation can be an </a:t>
            </a:r>
            <a:r>
              <a:rPr lang="en-US" b="1" dirty="0">
                <a:solidFill>
                  <a:srgbClr val="7030A0"/>
                </a:solidFill>
                <a:latin typeface="Candara" panose="020E0502030303020204" pitchFamily="34" charset="0"/>
                <a:cs typeface="Arial" pitchFamily="34" charset="0"/>
              </a:rPr>
              <a:t>appropriate</a:t>
            </a:r>
            <a:r>
              <a:rPr lang="en-US" dirty="0">
                <a:latin typeface="Candara" panose="020E0502030303020204" pitchFamily="34" charset="0"/>
                <a:cs typeface="Arial" pitchFamily="34" charset="0"/>
              </a:rPr>
              <a:t> tool in </a:t>
            </a:r>
            <a:r>
              <a:rPr lang="en-US" dirty="0">
                <a:solidFill>
                  <a:srgbClr val="FF0000"/>
                </a:solidFill>
                <a:latin typeface="Candara" panose="020E0502030303020204" pitchFamily="34" charset="0"/>
                <a:cs typeface="Arial" pitchFamily="34" charset="0"/>
              </a:rPr>
              <a:t>certain</a:t>
            </a:r>
            <a:r>
              <a:rPr lang="en-US" dirty="0">
                <a:latin typeface="Candara" panose="020E0502030303020204" pitchFamily="34" charset="0"/>
                <a:cs typeface="Arial" pitchFamily="34" charset="0"/>
              </a:rPr>
              <a:t> cases </a:t>
            </a:r>
          </a:p>
          <a:p>
            <a:endParaRPr lang="en-US" sz="2600" dirty="0">
              <a:cs typeface="Arial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10904"/>
            <a:ext cx="9144000" cy="899232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Candara" panose="020E0502030303020204" pitchFamily="34" charset="0"/>
                <a:cs typeface="Arial"/>
              </a:rPr>
              <a:t>Simulation: When is it an Appropriate Tool?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8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791527" cy="4994563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Every tool has a different purpose</a:t>
            </a:r>
          </a:p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A hammer cannot be used in place of a pliers or a screw driver</a:t>
            </a:r>
            <a:endParaRPr lang="en-US" sz="2400" b="1" dirty="0">
              <a:latin typeface="+mj-lt"/>
              <a:cs typeface="Arial" pitchFamily="34" charset="0"/>
            </a:endParaRPr>
          </a:p>
          <a:p>
            <a:pPr lvl="1"/>
            <a:endParaRPr lang="en-US" sz="2600" dirty="0">
              <a:latin typeface="Candara" panose="020E0502030303020204" pitchFamily="34" charset="0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ndara" panose="020E0502030303020204" pitchFamily="34" charset="0"/>
                <a:cs typeface="Arial"/>
              </a:rPr>
              <a:t>Differences in Tools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1F4141C-5CA4-476B-BAE0-A594225EA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731" y="3493546"/>
            <a:ext cx="1979487" cy="23431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D5B8377-6FC3-4610-85F2-89928A139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698" y="5034616"/>
            <a:ext cx="2470404" cy="88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9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571995" y="1295400"/>
            <a:ext cx="3763818" cy="4597399"/>
          </a:xfrm>
        </p:spPr>
        <p:txBody>
          <a:bodyPr>
            <a:noAutofit/>
          </a:bodyPr>
          <a:lstStyle/>
          <a:p>
            <a:pPr lvl="1">
              <a:buClr>
                <a:srgbClr val="7030A0"/>
              </a:buClr>
            </a:pPr>
            <a:r>
              <a:rPr lang="en-US" b="1" dirty="0">
                <a:latin typeface="+mj-lt"/>
                <a:cs typeface="Arial" pitchFamily="34" charset="0"/>
              </a:rPr>
              <a:t>Simulation enables the study of, and experimentation with, the internal interactions of a complex system or of a subsystem within a complex system.</a:t>
            </a:r>
          </a:p>
          <a:p>
            <a:pPr lvl="1">
              <a:buClr>
                <a:srgbClr val="7030A0"/>
              </a:buClr>
            </a:pPr>
            <a:endParaRPr lang="en-US" sz="2600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Analysis of Complex Systems</a:t>
            </a:r>
          </a:p>
        </p:txBody>
      </p:sp>
    </p:spTree>
    <p:extLst>
      <p:ext uri="{BB962C8B-B14F-4D97-AF65-F5344CB8AC3E}">
        <p14:creationId xmlns:p14="http://schemas.microsoft.com/office/powerpoint/2010/main" val="377252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Complex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0A65E8B-EF9E-4A9C-8FDC-B393D36C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75" y="1244067"/>
            <a:ext cx="4876641" cy="488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85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305652"/>
            <a:ext cx="3657600" cy="4226930"/>
          </a:xfrm>
        </p:spPr>
        <p:txBody>
          <a:bodyPr>
            <a:noAutofit/>
          </a:bodyPr>
          <a:lstStyle/>
          <a:p>
            <a:pPr lvl="1">
              <a:buClr>
                <a:srgbClr val="7030A0"/>
              </a:buClr>
            </a:pPr>
            <a:r>
              <a:rPr lang="en-US" b="1" dirty="0">
                <a:latin typeface="+mj-lt"/>
                <a:cs typeface="Arial" pitchFamily="34" charset="0"/>
              </a:rPr>
              <a:t>Informational, organizational, and environmental changes can be simulated, and the effect of these alterations on the model's behavior can be observed.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Defining Changes</a:t>
            </a:r>
          </a:p>
        </p:txBody>
      </p:sp>
    </p:spTree>
    <p:extLst>
      <p:ext uri="{BB962C8B-B14F-4D97-AF65-F5344CB8AC3E}">
        <p14:creationId xmlns:p14="http://schemas.microsoft.com/office/powerpoint/2010/main" val="260629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657600" cy="4292600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Candara" panose="020E0502030303020204" pitchFamily="34" charset="0"/>
                <a:cs typeface="Arial"/>
              </a:rPr>
              <a:t>The knowledge gained during the designing of a simulation model could be of great value toward suggesting improvement in the system under investigation.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Knowledge from Simulation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3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657600" cy="4569691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Changing simulation inputs and observing the resulting outputs can produce valuable insight into which variables are the most important and into how variables interact.</a:t>
            </a:r>
            <a:endParaRPr lang="en-US" b="1" dirty="0">
              <a:latin typeface="+mj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Learning from Change</a:t>
            </a:r>
          </a:p>
        </p:txBody>
      </p:sp>
    </p:spTree>
    <p:extLst>
      <p:ext uri="{BB962C8B-B14F-4D97-AF65-F5344CB8AC3E}">
        <p14:creationId xmlns:p14="http://schemas.microsoft.com/office/powerpoint/2010/main" val="156928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969221"/>
            <a:ext cx="3810000" cy="4569691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Candara" panose="020E0502030303020204" pitchFamily="34" charset="0"/>
                <a:cs typeface="Arial"/>
              </a:rPr>
              <a:t>Simulation can be used as a pedagogical device to reinforce analytic solution methodologies.</a:t>
            </a:r>
            <a:endParaRPr lang="en-US" sz="2400" b="1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Pedagogical Value</a:t>
            </a:r>
          </a:p>
        </p:txBody>
      </p:sp>
    </p:spTree>
    <p:extLst>
      <p:ext uri="{BB962C8B-B14F-4D97-AF65-F5344CB8AC3E}">
        <p14:creationId xmlns:p14="http://schemas.microsoft.com/office/powerpoint/2010/main" val="111819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932709"/>
            <a:ext cx="3657600" cy="4107873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Simulation can be used to experiment with new designs or policies before implementation, so as to prepare for what might happen.</a:t>
            </a:r>
            <a:endParaRPr lang="en-US" sz="2400" b="1" dirty="0">
              <a:latin typeface="+mj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Trial &amp; Error</a:t>
            </a:r>
          </a:p>
        </p:txBody>
      </p:sp>
    </p:spTree>
    <p:extLst>
      <p:ext uri="{BB962C8B-B14F-4D97-AF65-F5344CB8AC3E}">
        <p14:creationId xmlns:p14="http://schemas.microsoft.com/office/powerpoint/2010/main" val="138501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793730"/>
            <a:ext cx="3657600" cy="4745182"/>
          </a:xfrm>
        </p:spPr>
        <p:txBody>
          <a:bodyPr>
            <a:noAutofit/>
          </a:bodyPr>
          <a:lstStyle/>
          <a:p>
            <a:pPr marL="285750" lvl="1">
              <a:buClr>
                <a:srgbClr val="7030A0"/>
              </a:buClr>
            </a:pPr>
            <a:r>
              <a:rPr lang="en-US" b="1" dirty="0">
                <a:latin typeface="+mj-lt"/>
                <a:cs typeface="Arial" pitchFamily="34" charset="0"/>
              </a:rPr>
              <a:t>Simulation can be used to verify analytic solutions.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0" y="247850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Verification of Mathematical Models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16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900382"/>
            <a:ext cx="3865418" cy="4957618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Simulating different capabilities for a machine can help determine the requirements on it.</a:t>
            </a:r>
            <a:endParaRPr lang="en-US" b="1" dirty="0">
              <a:latin typeface="+mj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Learning Requirements for a Machine</a:t>
            </a:r>
          </a:p>
        </p:txBody>
      </p:sp>
    </p:spTree>
    <p:extLst>
      <p:ext uri="{BB962C8B-B14F-4D97-AF65-F5344CB8AC3E}">
        <p14:creationId xmlns:p14="http://schemas.microsoft.com/office/powerpoint/2010/main" val="305722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736109" cy="4772891"/>
          </a:xfrm>
        </p:spPr>
        <p:txBody>
          <a:bodyPr>
            <a:noAutofit/>
          </a:bodyPr>
          <a:lstStyle/>
          <a:p>
            <a:pPr marL="461963" lvl="1" indent="-350838">
              <a:buClr>
                <a:srgbClr val="7030A0"/>
              </a:buClr>
            </a:pPr>
            <a:r>
              <a:rPr lang="en-US" b="1" dirty="0">
                <a:latin typeface="+mj-lt"/>
                <a:cs typeface="Arial" pitchFamily="34" charset="0"/>
              </a:rPr>
              <a:t>Simulation models designed for training make learning possible without the cost and disruption of on-the-job instruction.</a:t>
            </a:r>
          </a:p>
          <a:p>
            <a:pPr marL="461963" lvl="1" indent="-350838"/>
            <a:endParaRPr lang="en-US" b="1" dirty="0">
              <a:latin typeface="+mj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47850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Replacement for Training</a:t>
            </a:r>
          </a:p>
        </p:txBody>
      </p:sp>
    </p:spTree>
    <p:extLst>
      <p:ext uri="{BB962C8B-B14F-4D97-AF65-F5344CB8AC3E}">
        <p14:creationId xmlns:p14="http://schemas.microsoft.com/office/powerpoint/2010/main" val="71660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399" y="1295399"/>
            <a:ext cx="3962401" cy="5060951"/>
          </a:xfrm>
        </p:spPr>
        <p:txBody>
          <a:bodyPr>
            <a:noAutofit/>
          </a:bodyPr>
          <a:lstStyle/>
          <a:p>
            <a:pPr marL="176213" indent="-176213">
              <a:buClr>
                <a:srgbClr val="7030A0"/>
              </a:buClr>
            </a:pPr>
            <a:r>
              <a:rPr lang="en-US" sz="2400" dirty="0">
                <a:latin typeface="Candara" panose="020E0502030303020204" pitchFamily="34" charset="0"/>
                <a:cs typeface="Arial"/>
              </a:rPr>
              <a:t>Animation shows a system in simulated operation so that the plan can be visualized.</a:t>
            </a:r>
            <a:endParaRPr lang="en-US" dirty="0">
              <a:latin typeface="Candara" panose="020E0502030303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47850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Animation of Simulation</a:t>
            </a:r>
          </a:p>
        </p:txBody>
      </p:sp>
    </p:spTree>
    <p:extLst>
      <p:ext uri="{BB962C8B-B14F-4D97-AF65-F5344CB8AC3E}">
        <p14:creationId xmlns:p14="http://schemas.microsoft.com/office/powerpoint/2010/main" val="58139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863008" cy="4840356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The modem system (factory, wafer fabrication plant, service organization, etc.) is so complex that its internal interactions can be treated only through simulation.</a:t>
            </a:r>
            <a:endParaRPr lang="en-US" b="1" dirty="0">
              <a:latin typeface="+mj-lt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Visually Understanding Modern Factories</a:t>
            </a:r>
          </a:p>
        </p:txBody>
      </p:sp>
    </p:spTree>
    <p:extLst>
      <p:ext uri="{BB962C8B-B14F-4D97-AF65-F5344CB8AC3E}">
        <p14:creationId xmlns:p14="http://schemas.microsoft.com/office/powerpoint/2010/main" val="333495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863008" cy="4840356"/>
          </a:xfrm>
        </p:spPr>
        <p:txBody>
          <a:bodyPr>
            <a:noAutofit/>
          </a:bodyPr>
          <a:lstStyle/>
          <a:p>
            <a:r>
              <a:rPr lang="en-US" sz="2400" b="1" dirty="0"/>
              <a:t>Explain (very distinct from predict) </a:t>
            </a:r>
          </a:p>
          <a:p>
            <a:r>
              <a:rPr lang="en-US" sz="2400" b="1" dirty="0"/>
              <a:t>Guide data collection </a:t>
            </a:r>
          </a:p>
          <a:p>
            <a:r>
              <a:rPr lang="en-US" sz="2400" b="1" dirty="0"/>
              <a:t>Illuminate core dynamics </a:t>
            </a:r>
          </a:p>
          <a:p>
            <a:r>
              <a:rPr lang="en-US" sz="2400" b="1" dirty="0"/>
              <a:t>Suggest dynamical analogies </a:t>
            </a:r>
          </a:p>
          <a:p>
            <a:r>
              <a:rPr lang="en-US" sz="2400" b="1" dirty="0"/>
              <a:t>Discover new questions </a:t>
            </a:r>
          </a:p>
          <a:p>
            <a:r>
              <a:rPr lang="en-US" sz="2400" b="1" dirty="0"/>
              <a:t>Promote a scientific habit of mind </a:t>
            </a:r>
          </a:p>
          <a:p>
            <a:r>
              <a:rPr lang="en-US" sz="2400" b="1" dirty="0"/>
              <a:t>Bound (bracket) outcomes to plausible ranges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Other reasons!</a:t>
            </a:r>
          </a:p>
        </p:txBody>
      </p:sp>
    </p:spTree>
    <p:extLst>
      <p:ext uri="{BB962C8B-B14F-4D97-AF65-F5344CB8AC3E}">
        <p14:creationId xmlns:p14="http://schemas.microsoft.com/office/powerpoint/2010/main" val="1467582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863008" cy="4840356"/>
          </a:xfrm>
        </p:spPr>
        <p:txBody>
          <a:bodyPr>
            <a:noAutofit/>
          </a:bodyPr>
          <a:lstStyle/>
          <a:p>
            <a:r>
              <a:rPr lang="en-US" sz="2400" b="1" dirty="0"/>
              <a:t>Illuminate core uncertainties. </a:t>
            </a:r>
          </a:p>
          <a:p>
            <a:r>
              <a:rPr lang="en-US" sz="2400" b="1" dirty="0"/>
              <a:t>Offer crisis options in near-real time </a:t>
            </a:r>
          </a:p>
          <a:p>
            <a:r>
              <a:rPr lang="en-US" sz="2400" b="1" dirty="0"/>
              <a:t>Demonstrate tradeoffs / suggest efficiencies </a:t>
            </a:r>
          </a:p>
          <a:p>
            <a:r>
              <a:rPr lang="en-US" sz="2400" b="1" dirty="0"/>
              <a:t>Challenge the robustness of prevailing theory through perturbations </a:t>
            </a:r>
          </a:p>
          <a:p>
            <a:r>
              <a:rPr lang="en-US" sz="2400" b="1" dirty="0"/>
              <a:t>Expose prevailing wisdom as incompatible with available data 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Other reasons!</a:t>
            </a:r>
          </a:p>
        </p:txBody>
      </p:sp>
    </p:spTree>
    <p:extLst>
      <p:ext uri="{BB962C8B-B14F-4D97-AF65-F5344CB8AC3E}">
        <p14:creationId xmlns:p14="http://schemas.microsoft.com/office/powerpoint/2010/main" val="182797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863008" cy="4840356"/>
          </a:xfrm>
        </p:spPr>
        <p:txBody>
          <a:bodyPr>
            <a:noAutofit/>
          </a:bodyPr>
          <a:lstStyle/>
          <a:p>
            <a:r>
              <a:rPr lang="en-US" sz="2400" b="1" dirty="0"/>
              <a:t>Train practitioners </a:t>
            </a:r>
          </a:p>
          <a:p>
            <a:r>
              <a:rPr lang="en-US" sz="2400" b="1" dirty="0"/>
              <a:t>Discipline the policy dialogue </a:t>
            </a:r>
          </a:p>
          <a:p>
            <a:r>
              <a:rPr lang="en-US" sz="2400" b="1" dirty="0"/>
              <a:t>Educate the general public </a:t>
            </a:r>
          </a:p>
          <a:p>
            <a:r>
              <a:rPr lang="en-US" sz="2400" b="1" dirty="0"/>
              <a:t>Reveal the apparently simple (complex) to be complex (simple) 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06285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Other reasons!</a:t>
            </a:r>
          </a:p>
        </p:txBody>
      </p:sp>
    </p:spTree>
    <p:extLst>
      <p:ext uri="{BB962C8B-B14F-4D97-AF65-F5344CB8AC3E}">
        <p14:creationId xmlns:p14="http://schemas.microsoft.com/office/powerpoint/2010/main" val="405221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3863008" cy="4840356"/>
          </a:xfrm>
        </p:spPr>
        <p:txBody>
          <a:bodyPr>
            <a:noAutofit/>
          </a:bodyPr>
          <a:lstStyle/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A large number of uses</a:t>
            </a:r>
          </a:p>
          <a:p>
            <a:pPr>
              <a:buClr>
                <a:srgbClr val="7030A0"/>
              </a:buClr>
            </a:pPr>
            <a:r>
              <a:rPr lang="en-US" sz="2400" b="1" dirty="0">
                <a:latin typeface="+mj-lt"/>
                <a:cs typeface="Arial"/>
              </a:rPr>
              <a:t>Additional Reading: Joshua M. Epstein, Why Model? </a:t>
            </a:r>
          </a:p>
          <a:p>
            <a:pPr>
              <a:buClr>
                <a:srgbClr val="7030A0"/>
              </a:buClr>
            </a:pPr>
            <a:r>
              <a:rPr lang="en-US" dirty="0">
                <a:latin typeface="Candara" panose="020E0502030303020204" pitchFamily="34" charset="0"/>
                <a:cs typeface="Arial" pitchFamily="34" charset="0"/>
                <a:hlinkClick r:id="rId3"/>
              </a:rPr>
              <a:t>http://jasss.soc.surrey.ac.uk/11/4/12.html</a:t>
            </a:r>
            <a:r>
              <a:rPr lang="en-US" dirty="0">
                <a:latin typeface="Candara" panose="020E0502030303020204" pitchFamily="34" charset="0"/>
                <a:cs typeface="Arial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07172-BAF6-F344-A163-E77E2B783464}" type="slidenum">
              <a:rPr lang="en-US" smtClean="0"/>
              <a:t>19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247850"/>
            <a:ext cx="9144000" cy="89923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cs typeface="Arial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93271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e _2_to_14_Fomatted.pptx" id="{17528013-191B-46B7-BD44-175F16E1960C}" vid="{6A4C22A3-04A6-4C1D-B700-24B9374928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</Template>
  <TotalTime>187</TotalTime>
  <Words>472</Words>
  <Application>Microsoft Office PowerPoint</Application>
  <PresentationFormat>On-screen Show (4:3)</PresentationFormat>
  <Paragraphs>89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Candara</vt:lpstr>
      <vt:lpstr>Office Theme</vt:lpstr>
      <vt:lpstr>Modeling &amp; Simulation </vt:lpstr>
      <vt:lpstr>Simulation: When is it an Appropriate Tool?</vt:lpstr>
      <vt:lpstr>Differences in Tools</vt:lpstr>
      <vt:lpstr>Analysis of Complex Systems</vt:lpstr>
      <vt:lpstr>Complex System</vt:lpstr>
      <vt:lpstr>Defining Changes</vt:lpstr>
      <vt:lpstr>Knowledge from Simulation</vt:lpstr>
      <vt:lpstr>Learning from Change</vt:lpstr>
      <vt:lpstr>Pedagogical Value</vt:lpstr>
      <vt:lpstr>Trial &amp; Error</vt:lpstr>
      <vt:lpstr>Verification of Mathematical Models</vt:lpstr>
      <vt:lpstr>Learning Requirements for a Machine</vt:lpstr>
      <vt:lpstr>Replacement for Training</vt:lpstr>
      <vt:lpstr>Animation of Simulation</vt:lpstr>
      <vt:lpstr>Visually Understanding Modern Factories</vt:lpstr>
      <vt:lpstr>Other reasons!</vt:lpstr>
      <vt:lpstr>Other reasons!</vt:lpstr>
      <vt:lpstr>Other reasons!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&amp; Simulation</dc:title>
  <dc:creator>Muaz Niazi</dc:creator>
  <cp:lastModifiedBy>Administrator</cp:lastModifiedBy>
  <cp:revision>18</cp:revision>
  <dcterms:created xsi:type="dcterms:W3CDTF">2018-01-08T01:03:26Z</dcterms:created>
  <dcterms:modified xsi:type="dcterms:W3CDTF">2018-01-29T06:07:39Z</dcterms:modified>
</cp:coreProperties>
</file>